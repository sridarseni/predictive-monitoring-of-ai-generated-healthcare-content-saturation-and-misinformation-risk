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Arial Narrow" panose="020B060602020203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D3315C-5BBF-4F93-85FC-E1C3DE0A209C}">
  <a:tblStyle styleId="{B0D3315C-5BBF-4F93-85FC-E1C3DE0A209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 b="off" i="off"/>
      <a:tcStyle>
        <a:tcBdr/>
        <a:fill>
          <a:solidFill>
            <a:srgbClr val="D4E2CE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4E2CE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18416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5699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6235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17963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399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4717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3027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0705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8757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89245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6596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94696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8040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29cd15bd2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g3d29cd15bd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9841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29cd15bd2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3d29cd15bd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537336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29cd15bd2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3d29cd15bd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099837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29cd15bd2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g3d29cd15bd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4946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984976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7567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20CS8504 &amp; PROJECT WORK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END SEMESTER PRACTICAL EXAMINATION- APRIL / MAY - 2026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No: 1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 30.3.2026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Session: FN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l="16357" r="14907" b="8148"/>
          <a:stretch/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0"/>
            <a:ext cx="5348811" cy="187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35560" y="406400"/>
            <a:ext cx="121191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Predictive Monitoring of AI-Generated Healthcare Content Saturation and Misinformation Risk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495816" y="3594414"/>
            <a:ext cx="4309351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Guide Name: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cs typeface="Arial"/>
                <a:sym typeface="Arial Narrow"/>
              </a:rPr>
              <a:t>Mrs. SATHYA R , M.E.,(Ph.D.,)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cs typeface="Arial"/>
              </a:rPr>
              <a:t>Assistant Professor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cs typeface="Arial"/>
              </a:rPr>
              <a:t>Department of CSE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7386833" y="3631450"/>
            <a:ext cx="46125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SHUTHIKA K (811722104148)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SRIDARSENI K P (811722104152)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SWETHA M (811722104166)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838200" y="2190750"/>
            <a:ext cx="10515600" cy="303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 To design a system that automatically analyzes online healthcare articles and determines their credibility.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 To identify potential medical misinformation and detect whether the content may be AI-generated using advanced analysis techniques.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 To assist users in verifying the reliability of healthcare information and reducing the spread of misleading medical content online.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838200" y="1244573"/>
            <a:ext cx="10515600" cy="545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sz="2600" dirty="0">
                <a:latin typeface="Arial Narrow"/>
                <a:ea typeface="Arial Narrow"/>
                <a:cs typeface="Arial Narrow"/>
                <a:sym typeface="Arial Narrow"/>
              </a:rPr>
              <a:t>1. The rapid growth of online healthcare articles has made it difficult for readers to identify reliable and accurate medical information. Many sources publish unverified health claims that can spread misinformation.</a:t>
            </a: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SzPts val="2800"/>
              <a:buNone/>
            </a:pPr>
            <a:r>
              <a:rPr lang="en-US" sz="2600" dirty="0">
                <a:latin typeface="Arial Narrow"/>
                <a:ea typeface="Arial Narrow"/>
                <a:cs typeface="Arial Narrow"/>
                <a:sym typeface="Arial Narrow"/>
              </a:rPr>
              <a:t>2. Advancements in artificial intelligence technologies have enabled automated tools to generate large volumes of medical content that may appear authentic but may contain inaccurate or misleading information.</a:t>
            </a: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SzPts val="2800"/>
              <a:buNone/>
            </a:pPr>
            <a:r>
              <a:rPr lang="en-US" sz="2600" dirty="0">
                <a:latin typeface="Arial Narrow"/>
                <a:ea typeface="Arial Narrow"/>
                <a:cs typeface="Arial Narrow"/>
                <a:sym typeface="Arial Narrow"/>
              </a:rPr>
              <a:t>3. An automated system is proposed to analyze healthcare news articles and evaluate their credibility.</a:t>
            </a: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SzPts val="2800"/>
              <a:buNone/>
            </a:pPr>
            <a:r>
              <a:rPr lang="en-US" sz="2600" dirty="0">
                <a:latin typeface="Arial Narrow"/>
                <a:ea typeface="Arial Narrow"/>
                <a:cs typeface="Arial Narrow"/>
                <a:sym typeface="Arial Narrow"/>
              </a:rPr>
              <a:t>4. The system uses Natural Language Processing (NLP) and Machine Learning to extract medical entities, detect misinformation patterns, and identify AI-generated content.</a:t>
            </a:r>
            <a:endParaRPr sz="2600" dirty="0"/>
          </a:p>
          <a:p>
            <a:pPr marL="0" lvl="0" indent="0">
              <a:buSzPts val="2800"/>
              <a:buNone/>
            </a:pPr>
            <a:r>
              <a:rPr lang="en-US" sz="2600" dirty="0">
                <a:latin typeface="Arial Narrow"/>
                <a:ea typeface="Arial Narrow"/>
                <a:cs typeface="Arial Narrow"/>
                <a:sym typeface="Arial Narrow"/>
              </a:rPr>
              <a:t>5. By providing credibility scores, summaries, and risk indicators, the system helps users quickly assess the reliability of online medical information.</a:t>
            </a: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8633749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sz="1400" b="0" i="0" u="none" strike="noStrike" cap="non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17"/>
          <p:cNvGraphicFramePr/>
          <p:nvPr>
            <p:extLst>
              <p:ext uri="{D42A27DB-BD31-4B8C-83A1-F6EECF244321}">
                <p14:modId xmlns:p14="http://schemas.microsoft.com/office/powerpoint/2010/main" val="62788402"/>
              </p:ext>
            </p:extLst>
          </p:nvPr>
        </p:nvGraphicFramePr>
        <p:xfrm>
          <a:off x="68845" y="618069"/>
          <a:ext cx="12083970" cy="6210255"/>
        </p:xfrm>
        <a:graphic>
          <a:graphicData uri="http://schemas.openxmlformats.org/drawingml/2006/table">
            <a:tbl>
              <a:tblPr firstRow="1" bandRow="1">
                <a:noFill/>
                <a:tableStyleId>{B0D3315C-5BBF-4F93-85FC-E1C3DE0A209C}</a:tableStyleId>
              </a:tblPr>
              <a:tblGrid>
                <a:gridCol w="238438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9239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3579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95959">
                  <a:extLst>
                    <a:ext uri="{9D8B030D-6E8A-4147-A177-3AD203B41FA5}">
                      <a16:colId xmlns="" xmlns:a16="http://schemas.microsoft.com/office/drawing/2014/main" val="401491950"/>
                    </a:ext>
                  </a:extLst>
                </a:gridCol>
                <a:gridCol w="2175438">
                  <a:extLst>
                    <a:ext uri="{9D8B030D-6E8A-4147-A177-3AD203B41FA5}">
                      <a16:colId xmlns="" xmlns:a16="http://schemas.microsoft.com/office/drawing/2014/main" val="3796432769"/>
                    </a:ext>
                  </a:extLst>
                </a:gridCol>
              </a:tblGrid>
              <a:tr h="54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PROS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CONS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69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An Explainable AI Framework for Artificial Intelligence of Medical Things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Al Amin, Kamrul Hasan, Saleh Zein-Sabatto, Deo Chimba, Imtiaz Ahmed, Tariqul Islam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CNN, Ensemble Learning, SHAP, LIME, Grad-CAM Explainable AI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Improves Transparency in Medical AI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Complex Model Implementation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Automatic Detection of Health Misinformation: A Systematic Review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S. Swire-Thompson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Machine Learning, Text Mining, NLP-based misinformation detection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Identifying health misinformation on digital platforms.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Mking performance comparison difficult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Explainable Artificial Intelligence in Healthcare: Algorithms and Clinical Integration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Kagaba J. Bosco, Q. Hugh Li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SHAP, LIME, Attention- based Deep Learning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Improves Transparency in AI Models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Computational Complexity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Distinguishing Reality from AI: Approaches for Detecting Synthetic Content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David Ghiurau, Daniela Popescu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Generative AI Detection, Transformer Models, Synthetic Content Analysis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Effective Detection of AI- Generated Content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Detection Becomes Harder as AI Improves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Detection and Classification of Fake News Using NLP and Deep Learning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P. K. Sharma, Manvendra Singh Divakar, Ritu Lodhi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Deep Learning, NLP, Text Feature Extraction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Deep learning models improve detection accuracy.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Requires significant training data and processing resources.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4740995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6D392F28-6F14-B442-9E2A-E4E82740D72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33749" y="6492875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9EFB8DA6-C042-532A-1FA8-F5758010E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881885"/>
              </p:ext>
            </p:extLst>
          </p:nvPr>
        </p:nvGraphicFramePr>
        <p:xfrm>
          <a:off x="86810" y="0"/>
          <a:ext cx="11950860" cy="6296627"/>
        </p:xfrm>
        <a:graphic>
          <a:graphicData uri="http://schemas.openxmlformats.org/drawingml/2006/table">
            <a:tbl>
              <a:tblPr firstRow="1" bandRow="1">
                <a:noFill/>
                <a:tableStyleId>{B0D3315C-5BBF-4F93-85FC-E1C3DE0A209C}</a:tableStyleId>
              </a:tblPr>
              <a:tblGrid>
                <a:gridCol w="2358120">
                  <a:extLst>
                    <a:ext uri="{9D8B030D-6E8A-4147-A177-3AD203B41FA5}">
                      <a16:colId xmlns="" xmlns:a16="http://schemas.microsoft.com/office/drawing/2014/main" val="473111947"/>
                    </a:ext>
                  </a:extLst>
                </a:gridCol>
                <a:gridCol w="2267138">
                  <a:extLst>
                    <a:ext uri="{9D8B030D-6E8A-4147-A177-3AD203B41FA5}">
                      <a16:colId xmlns="" xmlns:a16="http://schemas.microsoft.com/office/drawing/2014/main" val="1828820573"/>
                    </a:ext>
                  </a:extLst>
                </a:gridCol>
                <a:gridCol w="2804561">
                  <a:extLst>
                    <a:ext uri="{9D8B030D-6E8A-4147-A177-3AD203B41FA5}">
                      <a16:colId xmlns="" xmlns:a16="http://schemas.microsoft.com/office/drawing/2014/main" val="4129452403"/>
                    </a:ext>
                  </a:extLst>
                </a:gridCol>
                <a:gridCol w="2368735">
                  <a:extLst>
                    <a:ext uri="{9D8B030D-6E8A-4147-A177-3AD203B41FA5}">
                      <a16:colId xmlns="" xmlns:a16="http://schemas.microsoft.com/office/drawing/2014/main" val="1922808796"/>
                    </a:ext>
                  </a:extLst>
                </a:gridCol>
                <a:gridCol w="2152306">
                  <a:extLst>
                    <a:ext uri="{9D8B030D-6E8A-4147-A177-3AD203B41FA5}">
                      <a16:colId xmlns="" xmlns:a16="http://schemas.microsoft.com/office/drawing/2014/main" val="2543658229"/>
                    </a:ext>
                  </a:extLst>
                </a:gridCol>
              </a:tblGrid>
              <a:tr h="6481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PROS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CONS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770509287"/>
                  </a:ext>
                </a:extLst>
              </a:tr>
              <a:tr h="12959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Self-Explainable AI for Medical Image Analysis: A Survey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Junlin</a:t>
                      </a: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Hou, </a:t>
                      </a:r>
                      <a:r>
                        <a:rPr lang="en-US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Sicen</a:t>
                      </a: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Liu, </a:t>
                      </a:r>
                      <a:r>
                        <a:rPr lang="en-US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Yequan</a:t>
                      </a: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Bie, Hongmei Wang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Self-Explainable Deep Learning, Attention Models, Explainable Neural Network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Improves model transparency by integrating explanations directly into AI models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Self-explainable models can be computationally complex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2485050073"/>
                  </a:ext>
                </a:extLst>
              </a:tr>
              <a:tr h="12959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Detecting Health Misinformation in Social Media Using Machine Learning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fi-FI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K. Sharma, S. Qian, H. Jiang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NLP, SVM, Random Forest, Text Classification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Analyzes large volumes of social media data efficiently.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Detection accuracy depends on quality and size of the dataset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2231283357"/>
                  </a:ext>
                </a:extLst>
              </a:tr>
              <a:tr h="103769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Transformer-Based Fake News Detection for Healthcare Applications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Y. Liu, M. Chen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BERT, Transformer Models, Deep Learning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Captures context and semantic meaning in healthcare news.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Performance may drop with new or unseen misinformation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3903618120"/>
                  </a:ext>
                </a:extLst>
              </a:tr>
              <a:tr h="100947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Fake News Detection Using NLP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Akintya</a:t>
                      </a: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</a:t>
                      </a:r>
                      <a:r>
                        <a:rPr lang="en-US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Nigam,Aradhya</a:t>
                      </a: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Dhruv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Natural Language Processing (NLP), Machine Learning, Text Classification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Helps identify fake or misleading information in digital media.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Performance depends heavily </a:t>
                      </a:r>
                      <a:r>
                        <a:rPr lang="en-US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ondataset</a:t>
                      </a: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quality.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4289367071"/>
                  </a:ext>
                </a:extLst>
              </a:tr>
              <a:tr h="100947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AI-Based Fake News Detection Using NLP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Omkar Reddy Polu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Artificial Intelligence, Natural Language Processing, Machine Learning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Effective for analyzing large volumes of online content.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AI models may misclassify complex or ambiguous statements.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261319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5749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EXISTING SYSTEM ARCHITECTURE</a:t>
            </a:r>
            <a:endParaRPr sz="4000" b="1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object 4">
            <a:extLst>
              <a:ext uri="{FF2B5EF4-FFF2-40B4-BE49-F238E27FC236}">
                <a16:creationId xmlns="" xmlns:a16="http://schemas.microsoft.com/office/drawing/2014/main" id="{505027CA-7CF6-1902-1CC3-DD1BBD58A7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5354" y="1106424"/>
            <a:ext cx="7846138" cy="46451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-1" y="0"/>
            <a:ext cx="12345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PROBLEM IDENTIFI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ED</a:t>
            </a:r>
            <a:endParaRPr sz="4000" b="1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740229" y="1034142"/>
            <a:ext cx="10787742" cy="538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1.</a:t>
            </a:r>
            <a:r>
              <a:rPr lang="en-US" sz="2400" dirty="0"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 The rapid growth of Generative AI tools has increased AI-generated healthcare content such as medical articles advice, and online health information.</a:t>
            </a:r>
            <a:endParaRPr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2.</a:t>
            </a:r>
            <a:r>
              <a:rPr lang="en-US" sz="2400" dirty="0"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 AI can produce content quickly, but it may include incorrect, outdated, or misleading medical information, affecting public health awareness.</a:t>
            </a:r>
            <a:endParaRPr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3.</a:t>
            </a:r>
            <a:r>
              <a:rPr lang="en-US" sz="2400" dirty="0"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 The large volume of AI-generated content can cause content saturation, where synthetic information overshadows verified medical knowledge.</a:t>
            </a:r>
            <a:endParaRPr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4.</a:t>
            </a:r>
            <a:r>
              <a:rPr lang="en-US" sz="2400" dirty="0"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 Current healthcare monitoring systems mainly detect general misinformation but cannot effectively identify AI- generated medical content or measure its saturation.</a:t>
            </a:r>
            <a:endParaRPr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5.</a:t>
            </a:r>
            <a:r>
              <a:rPr lang="en-US" sz="2400" dirty="0"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 There is a lack of predictive systems to forecast the growth of AI-generated healthcare content and evaluate its potential misinformation risk.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400" dirty="0">
                <a:latin typeface="Arial Narrow" panose="020B0606020202030204" pitchFamily="34" charset="0"/>
                <a:cs typeface="Arial" panose="020B0604020202020204" pitchFamily="34" charset="0"/>
                <a:sym typeface="Arial Narrow"/>
              </a:rPr>
              <a:t>6. An intelligent AI-based system is developed to automatically analyze healthcare articles, detect AI-generated content, identify suspicious medical claims, and calculate a credibility risk score to help users evaluate the reliability of online healthcare information and reduce the spread of medical misinformation.</a:t>
            </a:r>
            <a:endParaRPr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SYSTEM ARCHITECTURE</a:t>
            </a:r>
            <a:endParaRPr sz="4000" b="1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object 3">
            <a:extLst>
              <a:ext uri="{FF2B5EF4-FFF2-40B4-BE49-F238E27FC236}">
                <a16:creationId xmlns="" xmlns:a16="http://schemas.microsoft.com/office/drawing/2014/main" id="{A0029ACC-7CD7-7C3A-AAE6-9CE137064C0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1255" y="1422294"/>
            <a:ext cx="7535954" cy="40224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6" name="Google Shape;146;p21"/>
          <p:cNvSpPr txBox="1">
            <a:spLocks noGrp="1"/>
          </p:cNvSpPr>
          <p:nvPr>
            <p:ph type="body" idx="2"/>
          </p:nvPr>
        </p:nvSpPr>
        <p:spPr>
          <a:xfrm>
            <a:off x="265938" y="2539370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 Processor: Intel Core i5 or higher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 RAM: Minimum 8 GB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 Storage: 256 GB Hard Disk / SSD</a:t>
            </a:r>
          </a:p>
        </p:txBody>
      </p:sp>
      <p:sp>
        <p:nvSpPr>
          <p:cNvPr id="147" name="Google Shape;147;p21"/>
          <p:cNvSpPr txBox="1">
            <a:spLocks noGrp="1"/>
          </p:cNvSpPr>
          <p:nvPr>
            <p:ph type="body" idx="4"/>
          </p:nvPr>
        </p:nvSpPr>
        <p:spPr>
          <a:xfrm>
            <a:off x="6938031" y="2539370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 Operating System: Windows / Linux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 Programming Language: Python, HTML, CSS, JavaScript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 Development Tools: VS Code with ML libraries (</a:t>
            </a:r>
            <a:r>
              <a:rPr lang="en-US" dirty="0" err="1">
                <a:latin typeface="Arial Narrow"/>
                <a:ea typeface="Arial Narrow"/>
                <a:cs typeface="Arial Narrow"/>
                <a:sym typeface="Arial Narrow"/>
              </a:rPr>
              <a:t>FastAPI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, Transformers, </a:t>
            </a:r>
            <a:r>
              <a:rPr lang="en-US" dirty="0" err="1">
                <a:latin typeface="Arial Narrow"/>
                <a:ea typeface="Arial Narrow"/>
                <a:cs typeface="Arial Narrow"/>
                <a:sym typeface="Arial Narrow"/>
              </a:rPr>
              <a:t>PyTorch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, </a:t>
            </a:r>
            <a:r>
              <a:rPr lang="en-US" dirty="0" err="1">
                <a:latin typeface="Arial Narrow"/>
                <a:ea typeface="Arial Narrow"/>
                <a:cs typeface="Arial Narrow"/>
                <a:sym typeface="Arial Narrow"/>
              </a:rPr>
              <a:t>BeautifulSoup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, </a:t>
            </a:r>
            <a:r>
              <a:rPr lang="en-US" dirty="0" err="1">
                <a:latin typeface="Arial Narrow"/>
                <a:ea typeface="Arial Narrow"/>
                <a:cs typeface="Arial Narrow"/>
                <a:sym typeface="Arial Narrow"/>
              </a:rPr>
              <a:t>Trafilatura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)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8" name="Google Shape;14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 User Interface Module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 Data Collection Module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 Text Preprocessing Module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4. Medical Claim Detection Module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5. AI-Content Detection Module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5" name="Google Shape;15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MODULE-1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1" name="Google Shape;161;p23"/>
          <p:cNvSpPr txBox="1">
            <a:spLocks noGrp="1"/>
          </p:cNvSpPr>
          <p:nvPr>
            <p:ph type="body" idx="1"/>
          </p:nvPr>
        </p:nvSpPr>
        <p:spPr>
          <a:xfrm>
            <a:off x="685800" y="566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ClrTx/>
              <a:buSzPts val="2800"/>
              <a:buNone/>
            </a:pPr>
            <a:r>
              <a:rPr lang="en-US" b="1" dirty="0">
                <a:latin typeface="Arial Narrow"/>
                <a:cs typeface="Arial"/>
                <a:sym typeface="Arial Narrow"/>
              </a:rPr>
              <a:t>User Interface Module</a:t>
            </a:r>
          </a:p>
          <a:p>
            <a:pPr marL="0" indent="0">
              <a:spcBef>
                <a:spcPts val="0"/>
              </a:spcBef>
              <a:buClrTx/>
              <a:buSzPts val="2800"/>
              <a:buNone/>
            </a:pP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lvl="0" indent="-514350"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Allows 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users to enter or submit a healthcare news article URL for analysis.</a:t>
            </a:r>
          </a:p>
          <a:p>
            <a:pPr marL="514350" lvl="0" indent="-514350"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Displays the analysis results such as credibility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score, detected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	medical claims, and AI-generated content probability.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 smtClean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2" name="Google Shape;16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4185000" y="6070000"/>
            <a:ext cx="3517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Screenshot of Module - 1</a:t>
            </a:r>
            <a:endParaRPr dirty="0"/>
          </a:p>
        </p:txBody>
      </p:sp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4430" y="2742000"/>
            <a:ext cx="8025383" cy="32227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MODULE-2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>
            <a:off x="483358" y="566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Data Collection Module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lang="en-US" dirty="0" smtClean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lvl="0" indent="-514350" algn="just"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Retrieves healthcare article content from the provided URL using web 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scraping techniques.</a:t>
            </a:r>
          </a:p>
          <a:p>
            <a:pPr marL="514350" lvl="0" indent="-514350" algn="just"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Extracts and stores the main text of the article for further analysis.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2" name="Google Shape;17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4185000" y="6148750"/>
            <a:ext cx="3517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Screenshot of Module - 2</a:t>
            </a:r>
            <a:endParaRPr dirty="0"/>
          </a:p>
        </p:txBody>
      </p:sp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1197" y="2593073"/>
            <a:ext cx="8331003" cy="34357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MODULE-3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1" name="Google Shape;181;p25"/>
          <p:cNvSpPr txBox="1">
            <a:spLocks noGrp="1"/>
          </p:cNvSpPr>
          <p:nvPr>
            <p:ph type="body" idx="1"/>
          </p:nvPr>
        </p:nvSpPr>
        <p:spPr>
          <a:xfrm>
            <a:off x="510653" y="566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Text Preprocessing Module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lang="en-US" dirty="0" smtClean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lvl="0" indent="-514350" algn="just"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Cleans the extracted article text by removing HTML tags, special characters, and unnecessary content.</a:t>
            </a:r>
          </a:p>
          <a:p>
            <a:pPr marL="514350" lvl="0" indent="-514350" algn="just"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Converts the text into a structured format suitable for Natural Language</a:t>
            </a:r>
          </a:p>
          <a:p>
            <a:pPr marL="0" lvl="0" indent="0" algn="just">
              <a:spcBef>
                <a:spcPts val="0"/>
              </a:spcBef>
              <a:buClrTx/>
              <a:buSzPts val="2800"/>
              <a:buNone/>
            </a:pP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       Processing (NLP) analysis.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2" name="Google Shape;18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4628063" y="6240778"/>
            <a:ext cx="3517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Screenshot of Module - 3</a:t>
            </a:r>
            <a:endParaRPr dirty="0"/>
          </a:p>
        </p:txBody>
      </p:sp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0143" y="3263908"/>
            <a:ext cx="7291714" cy="2793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MODULE-4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body" idx="1"/>
          </p:nvPr>
        </p:nvSpPr>
        <p:spPr>
          <a:xfrm>
            <a:off x="537949" y="566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Medical Claim Detection Module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lvl="0" indent="-514350" algn="just">
              <a:buClrTx/>
              <a:buSzPts val="2800"/>
              <a:buFont typeface="+mj-lt"/>
              <a:buAutoNum type="arabicPeriod"/>
            </a:pP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Identifies medical entities such as diseases, treatments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,	drugs,	</a:t>
            </a: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and symptoms 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mentioned in the article.</a:t>
            </a:r>
          </a:p>
          <a:p>
            <a:pPr marL="514350" lvl="0" indent="-514350" algn="just">
              <a:buClrTx/>
              <a:buSzPts val="2800"/>
              <a:buFont typeface="+mj-lt"/>
              <a:buAutoNum type="arabicPeriod"/>
            </a:pP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Detects suspicious or misleading health claims that may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indicate misinformation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.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4184999" y="6252550"/>
            <a:ext cx="3517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Screenshot of Module - 4</a:t>
            </a:r>
            <a:endParaRPr dirty="0"/>
          </a:p>
        </p:txBody>
      </p:sp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1569" y="3276600"/>
            <a:ext cx="7328359" cy="29034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MODULE-5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1" name="Google Shape;201;p27"/>
          <p:cNvSpPr txBox="1">
            <a:spLocks noGrp="1"/>
          </p:cNvSpPr>
          <p:nvPr>
            <p:ph type="body" idx="1"/>
          </p:nvPr>
        </p:nvSpPr>
        <p:spPr>
          <a:xfrm>
            <a:off x="510654" y="68064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AI Content Detection Module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lang="en-US" dirty="0" smtClean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lvl="0" indent="-514350" algn="just"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Analyzes writing patterns and linguistic features to identify whether the article may be AI-generated.</a:t>
            </a:r>
          </a:p>
          <a:p>
            <a:pPr marL="514350" lvl="0" indent="-514350"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Estimates the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probability of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	AI-generated	</a:t>
            </a: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content and flags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potentially 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automated health articles.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 smtClean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2" name="Google Shape;20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4185000" y="6285300"/>
            <a:ext cx="3517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Screenshot of Module - 5</a:t>
            </a:r>
            <a:endParaRPr dirty="0"/>
          </a:p>
        </p:txBody>
      </p:sp>
      <p:pic>
        <p:nvPicPr>
          <p:cNvPr id="8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6584" y="3094050"/>
            <a:ext cx="7134032" cy="3262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1" name="Google Shape;211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In 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conclusion , the project successfully developed an AI-based system that analyzes healthcare articles to detect medical misinformation and identify AI- generated content, helping users evaluate the credibility of online health information.</a:t>
            </a:r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By combining web scraping, Natural Language Processing (NLP), and machine learning techniques, the system provides reliable insights that help reduce the spread of misleading healthcare content on the internet.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2" name="Google Shape;21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FUTURE ENHANCEMENTS 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8" name="Google Shape;218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Detection of Multimodal Health Misinformation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Future systems can analyze not only text but also images and videos to identify misleading visual health information using multimodal deep learning.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b="1" dirty="0" smtClean="0">
                <a:latin typeface="Arial Narrow"/>
                <a:ea typeface="Arial Narrow"/>
                <a:cs typeface="Arial Narrow"/>
                <a:sym typeface="Arial Narrow"/>
              </a:rPr>
              <a:t>2.   Multi-Language </a:t>
            </a: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Medical Content Analysis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The system can be enhanced with multilingual NLP to detect misinformation in medical articles written in languages like Tamil, Hindi, Telugu, and other regional languages.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9" name="Google Shape;21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18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1279</Words>
  <Application>Microsoft Office PowerPoint</Application>
  <PresentationFormat>Widescreen</PresentationFormat>
  <Paragraphs>172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Arial Narrow</vt:lpstr>
      <vt:lpstr>Times New Roman</vt:lpstr>
      <vt:lpstr>Arial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MODULE-1</vt:lpstr>
      <vt:lpstr>MODULE-2</vt:lpstr>
      <vt:lpstr>MODULE-3</vt:lpstr>
      <vt:lpstr>MODULE-4</vt:lpstr>
      <vt:lpstr>MODULE-5</vt:lpstr>
      <vt:lpstr>CONCLUSION</vt:lpstr>
      <vt:lpstr>FUTURE ENHANCEMENTS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Dell</cp:lastModifiedBy>
  <cp:revision>26</cp:revision>
  <dcterms:modified xsi:type="dcterms:W3CDTF">2026-03-29T13:03:56Z</dcterms:modified>
</cp:coreProperties>
</file>